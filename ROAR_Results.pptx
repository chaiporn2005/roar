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745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FAITHFULNESS TEST · RESULTS SUMMARY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ทดสอบความน่าเชื่อถือของ SHAP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ด้วยวิธี Remove-And-Retrain (ROAR)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Faithfulness Testing on MTBLS242 Serum NMR Metabolomics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892040"/>
            <a:ext cx="210312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12064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 “SHAP บอกว่าอะไรสำคัญ”  →  สู่ “พิสูจน์ด้วยการทดลองจริงว่าสำคัญจริง”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MTBLS242 · n=177 (preop=106, 12-month=71) · 21 metabolites · XGBoost + SHAP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แรงจูงใจ (MOTIVATION)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จัดอันดับฟีเจอร์ได้ แต่ไม่ได้พิสูจน์ว่าฟีเจอร์นั้นสำคัญจริง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F0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84832"/>
            <a:ext cx="1045433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ปัญหาของ SHAP เพียงลำพัง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บอกว่าโมเดล “ใช้” ฟีเจอร์ไหนในการทำนาย แต่ไม่ได้ยืนยันว่าฟีเจอร์นั้นมีผลเชิงสาเหตุจริง หรือเป็นเพียง artifact / ตัวแปรที่บังเอิญสหสัมพันธ์กับผลลัพธ์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94415" cy="2148840"/>
          </a:xfrm>
          <a:prstGeom prst="roundRect">
            <a:avLst>
              <a:gd name="adj" fmla="val 3404"/>
            </a:avLst>
          </a:prstGeom>
          <a:solidFill>
            <a:srgbClr val="0146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4096512"/>
            <a:ext cx="1045433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แนวคิดของ ROAR (Remove-And-Retrain)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ลบฟีเจอร์อันดับต้นตามคะแนน SHAP ออกทีละชุด แล้วเทรนโมเดลใหม่ทั้งหมด — เปรียบเทียบผลกับการลบฟีเจอร์แบบสุ่มจำนวนเท่ากัน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SHAP ถูกต้องจริง การลบแบบมีข้อมูล (informed) ต้องทำให้ประสิทธิภาพลดลง “มากกว่า” การลบแบบสุ่มอย่างชัดเจน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· MTBLS242 SERUM ¹H-NMR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ชุดข้อมูล วิธีการ และผลลัพธ์พื้นฐานของโมเดล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0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ข้อมูลและวิธีการ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MTBLS242 serum ¹H-NMR · n=177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preop n=106  vs  12-month n=71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quantified metabolites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XGBoost (max_depth=3)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Stratified 5-fold CV × 10 repeats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checkpoints: k = 1, 3, 5, 8, 11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Random-removal control: 30 draws / 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33695" cy="4160520"/>
          </a:xfrm>
          <a:prstGeom prst="roundRect">
            <a:avLst>
              <a:gd name="adj" fmla="val 1758"/>
            </a:avLst>
          </a:prstGeom>
          <a:solidFill>
            <a:srgbClr val="0146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103120"/>
            <a:ext cx="4693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ผลลัพธ์พื้นฐาน (Baseline, k=0)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0604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PR-AUC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907792"/>
            <a:ext cx="46936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0.972 ± 0.024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794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SHAP-ranked metabolites (baseline)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4160520"/>
            <a:ext cx="4693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Dimethyl sulfone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isopropanol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methanol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5166360"/>
            <a:ext cx="46936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D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ทั้ง 3 ตัวคือ known laboratory / exogenous artifacts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BASELINE EXPLANATION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อันดับความสำคัญจาก SHAP: 3 อันดับแรกคือสารปนเปื้อนที่รู้จัก ไม่ใช่ชีววิทยา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|SHAP value| ของเมตาโบไลต์ทั้ง 21 ตัวจากโมเดล baseline (ใช้ฟีเจอร์ครบทั้ง 21 ตัว)</a:t>
            </a:r>
            <a:endParaRPr lang="en-US" sz="1300" dirty="0"/>
          </a:p>
        </p:txBody>
      </p:sp>
      <p:pic>
        <p:nvPicPr>
          <p:cNvPr id="5" name="Image 0" descr="/tmp/claude-0/-home-claude/3d1ec2dd-28e7-5357-a4c6-0c727a0e5994/scratchpad/work/charts/A_shap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4848" y="1783080"/>
            <a:ext cx="584200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5955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Dimethyl sulfone, isopropanol และ methanol คือ 3 อันดับแรกที่ SHAP ให้ความสำคัญสูงสุด — ทั้งสามตัวเป็น known laboratory/exogenous artifacts ไม่ใช่สารชีวภาพที่เกี่ยวกับโรคอ้วน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นี่คือเหตุผลที่ต้องทดสอบต่อด้วย ROAR แทนที่จะเชื่อคะแนน SHAP ตรง ๆ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ROAR CURVE (ผลลัพธ์หลัก)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ลบฟีเจอร์ตาม SHAP → ประสิทธิภาพร่วงเร็วกว่าและต่ำกว่าการลบแบบสุ่มเสมอ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PR-AUC เปรียบเทียบระหว่างการลบแบบ informed (ตาม SHAP) และการลบแบบสุ่ม 30 ครั้ง ที่ k = 1, 3, 5, 8, 11</a:t>
            </a:r>
            <a:endParaRPr lang="en-US" sz="1300" dirty="0"/>
          </a:p>
        </p:txBody>
      </p:sp>
      <p:pic>
        <p:nvPicPr>
          <p:cNvPr id="5" name="Image 0" descr="/tmp/claude-0/-home-claude/3d1ec2dd-28e7-5357-a4c6-0c727a0e5994/scratchpad/work/charts/B_roar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302" y="1783080"/>
            <a:ext cx="6373091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5955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ที่ทุกค่า k การลบแบบ informed แย่กว่าเกือบทุกครั้งของการลบแบบสุ่ม (percentile ≤ 3.3% แทบทุกจุด) — เป็นหลักฐานว่า SHAP ranking สะท้อนฟีเจอร์ที่โมเดล “พึ่งพา” จริง ไม่ใช่บังเอิญ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· PROXY DETECTION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เมื่อฟีเจอร์อันดับต้นถูกลบ โมเดลหาตัวแทนที่สหสัมพันธ์กันมาใช้แทนทันที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ที่แต่ละ k, feature ที่กลายเป็นอันดับ 1 ใหม่หลัง retrain และค่าสหสัมพันธ์ (Pearson r) กับฟีเจอร์ที่ถูกลบ</a:t>
            </a:r>
            <a:endParaRPr lang="en-US" sz="1300" dirty="0"/>
          </a:p>
        </p:txBody>
      </p:sp>
      <p:pic>
        <p:nvPicPr>
          <p:cNvPr id="5" name="Image 0" descr="/tmp/claude-0/-home-claude/3d1ec2dd-28e7-5357-a4c6-0c727a0e5994/scratchpad/work/charts/C_proxy_det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723" y="1783080"/>
            <a:ext cx="657225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5955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 retrain โมเดลมักหยิบฟีเจอร์ที่สหสัมพันธ์สูงกับตัวที่ถูกลบมาทดแทน (|r| สูงสุด 0.57) — สัญญาณของการรั่วไหลของข้อมูล (leakage) ผ่านความสัมพันธ์ระหว่างเมตาโบไลต์ ไม่ใช่ฟีเจอร์ที่อิสระต่อกันจริง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 · ARTIFACT VS. BIOLOGY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เปรียบเทียบ: ลบสารปนเปื้อน vs. ลบเมตาโบไลต์ที่มีหลักฐานทางชีวภาพ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 PR-AUC เมื่อลบ known-artifact trio กับ top-literature-biology trio (k=3 ทั้งคู่) เทียบกับการลบแบบสุ่ม 3 ฟีเจอร์</a:t>
            </a:r>
            <a:endParaRPr lang="en-US" sz="1300" dirty="0"/>
          </a:p>
        </p:txBody>
      </p:sp>
      <p:pic>
        <p:nvPicPr>
          <p:cNvPr id="5" name="Image 0" descr="/tmp/claude-0/-home-claude/3d1ec2dd-28e7-5357-a4c6-0c727a0e5994/scratchpad/work/charts/D_contr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6018" y="1783080"/>
            <a:ext cx="613966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5955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ทั้งสองกลุ่มทำให้ประสิทธิภาพลดลงต่ำกว่าค่ากลางของการลบแบบสุ่มพอ ๆ กัน — บ่งชี้ว่าโมเดลพึ่งพา “artifact” มากพอ ๆ กับสารชีวภาพที่มีหลักฐานทางวรรณกรรม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ความเสี่ยงต่อการตีความผลในทางคลินิก หากไม่คัดกรอง exogenous artifacts ออกก่อน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5 · RANDOM-DRAW DISTRIBUTIONS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ตำแหน่งของการลบแบบ informed เทียบกับการกระจายของการลบแบบสุ่มทั้ง 30 ครั้ง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ของ PR-AUC จากการลบแบบสุ่ม 30 ครั้งต่อ k พร้อมจุดค่าจริงของการลบแบบ informed (สีแดง)</a:t>
            </a:r>
            <a:endParaRPr lang="en-US" sz="1300" dirty="0"/>
          </a:p>
        </p:txBody>
      </p:sp>
      <p:pic>
        <p:nvPicPr>
          <p:cNvPr id="5" name="Image 0" descr="/tmp/claude-0/-home-claude/3d1ec2dd-28e7-5357-a4c6-0c727a0e5994/scratchpad/work/charts/E_random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302" y="1783080"/>
            <a:ext cx="6373091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5955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 k=1,3,5,8,11 ค่า informed อยู่ต่ำกว่าทุกกล่อง (นอกเหนือ whisker) เกือบทุกครั้ง — ไม่ใช่แค่ “ต่ำกว่าค่าเฉลี่ย” แต่ต่ำกว่าการกระจายทั้งหมดของการสุ่ม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6 · FOLD-LEVEL VARIANCE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ความแปรปรวนระดับ fold ยืนยันแนวโน้มเดียวกัน แม้มองข้อมูลดิบทั้งหมด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รายfold (n=400 fold-runs) ในทุกเงื่อนไขของ ROAR ตั้งแต่ baseline จนถึง k=11</a:t>
            </a:r>
            <a:endParaRPr lang="en-US" sz="1300" dirty="0"/>
          </a:p>
        </p:txBody>
      </p:sp>
      <p:pic>
        <p:nvPicPr>
          <p:cNvPr id="5" name="Image 0" descr="/tmp/claude-0/-home-claude/3d1ec2dd-28e7-5357-a4c6-0c727a0e5994/scratchpad/work/charts/F_raw_f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339" y="1783080"/>
            <a:ext cx="6761018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5955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ของกลุ่ม informed ลดลงต่อเนื่องตาม k ในขณะที่กลุ่ม baseline/biology trio ยังคงอยู่ในระดับสูง — รูปแบบเดียวกับที่เห็นในค่าเฉลี่ยของ ROAR curve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สรุปเปรียบเทียบ (COMPARISON) · RESULT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รวมทุกเงื่อนไขของ ROAR ไว้ในกราฟเดียว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ของทุกเงื่อนไข: baseline, informed removal (k=1–11), random removal เฉลี่ย (k=1–11), และ artifact/biology trio</a:t>
            </a:r>
            <a:endParaRPr lang="en-US" sz="1300" dirty="0"/>
          </a:p>
        </p:txBody>
      </p:sp>
      <p:pic>
        <p:nvPicPr>
          <p:cNvPr id="5" name="Image 0" descr="/tmp/claude-0/-home-claude/3d1ec2dd-28e7-5357-a4c6-0c727a0e5994/scratchpad/work/charts/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2127" y="1783080"/>
            <a:ext cx="6307442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59552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 informed removal (แดง) อยู่ต่ำกว่ากลุ่ม random removal (เขียวอมฟ้า) ที่ k เดียวกันเสมอ และยิ่งลบมาก (k สูง) ช่องว่างยิ่งถ่างออก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ผลสรุปเชิงตัวเลข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ผ่านการทดสอบ ROAR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42381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0.972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34238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PR-AUC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(k=0, ฟีเจอร์ครบ 21 ตัว)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46778" y="1828800"/>
            <a:ext cx="342381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246778" y="2788920"/>
            <a:ext cx="34238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Informed-removal PR-AUC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 k=11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944917" y="1828800"/>
            <a:ext cx="342381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7944917" y="2788920"/>
            <a:ext cx="34238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 k ที่ informed removal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แย่กว่าการสุ่มทั้ง 30 ครั้ง (0th pctile)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4415" cy="18288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PR-AUC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Percentile vs. random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 than ALL 30 draws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 than 96.7% of draws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 than ALL 30 draws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 than ALL 30 draws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 than ALL 30 draws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8064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CEEE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580644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หลักฐานจาก 6 การทดลองยืนยันตรงกัน: SHAP สะท้อนฟีเจอร์ที่โมเดลพึ่งพาจริง — แต่ 3 อันดับแรกคือสารปนเปื้อน ไม่ใช่ชีววิทยาของโรคอ้วน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สรุปและข้อคิด (TAKEAWAYS)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น่าเชื่อถือในเชิง faithfulness — แต่สิ่งที่มันชี้กลับเป็นปัญหาข้อมูล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965960"/>
          </a:xfrm>
          <a:prstGeom prst="roundRect">
            <a:avLst>
              <a:gd name="adj" fmla="val 3721"/>
            </a:avLst>
          </a:prstGeom>
          <a:solidFill>
            <a:srgbClr val="F0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2996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ยืนยัน Faithfulness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1045433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การลบฟีเจอร์ตาม SHAP ทำให้ PR-AUC ลดลงมากกว่าการลบแบบสุ่มในทุกค่า k (percentile 0–3.3%)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รูปแบบเดียวกันนี้เห็นทั้งในค่าเฉลี่ย (ROAR curve) และข้อมูลดิบระดับ fold (raw fold scores, n=400)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11094415" cy="2423160"/>
          </a:xfrm>
          <a:prstGeom prst="roundRect">
            <a:avLst>
              <a:gd name="adj" fmla="val 3019"/>
            </a:avLst>
          </a:prstGeom>
          <a:solidFill>
            <a:srgbClr val="0146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27024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แต่พบความเสี่ยงเชิงข้อมูล (ไม่ใช่ปัญหาของ SHAP)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63440"/>
            <a:ext cx="104543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อันดับแรกที่โมเดลพึ่งพาที่สุดคือสารปนเปื้อนที่รู้จัก (isopropanol, methanol, Dimethyl sulfone) ไม่ใช่สารชีวภาพ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เมื่อลบสารเหล่านี้ โมเดลหาตัวแทนที่สหสัมพันธ์สูงมาใช้แทนได้ทันที (|r| สูงสุด 0.57) — ความเสี่ยงต่อ data leakage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ก่อนใช้งานจริงทางคลินิก ต้องกำจัด/ควบคุม exogenous artifacts เหล่านี้ออกจาก pipeline ก่อน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4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BEYOND EXPERIMENT 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1109441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&amp; การขยายผล ROAR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ไปยัง Dataset อื่น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4297680"/>
            <a:ext cx="210312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5262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5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ใช้ได้จริงกับ Exp A — แต่มีข้อจำกัดอะไรบ้าง และไปต่อกับ Exp B / Exp C ยังไง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· EXPERIMENT 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ข้อจำกัดของ ROAR ที่พบจริงจากผลการทดลอง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10048" cy="1691640"/>
          </a:xfrm>
          <a:prstGeom prst="roundRect">
            <a:avLst>
              <a:gd name="adj" fmla="val 3784"/>
            </a:avLst>
          </a:prstGeom>
          <a:solidFill>
            <a:srgbClr val="F0F7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 · FEATURE REDUNDANCY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94560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0.57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15768"/>
            <a:ext cx="486140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 L-valine ออก โมเดลเกาะ D-phenylalanine ที่สหสัมพันธ์สูงมาแทนทันที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783080"/>
            <a:ext cx="5410048" cy="1691640"/>
          </a:xfrm>
          <a:prstGeom prst="roundRect">
            <a:avLst>
              <a:gd name="adj" fmla="val 3784"/>
            </a:avLst>
          </a:prstGeom>
          <a:solidFill>
            <a:srgbClr val="F0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33008" y="1783080"/>
            <a:ext cx="82296" cy="1691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3048" y="192024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 · STATIC RANKING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194560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Top-k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715768"/>
            <a:ext cx="486140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ranking คำนวณครั้งเดียว ไม่ปรับตามโมเดลที่ retrain ใหม่ทุกรอบ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75888"/>
            <a:ext cx="5410048" cy="1691640"/>
          </a:xfrm>
          <a:prstGeom prst="roundRect">
            <a:avLst>
              <a:gd name="adj" fmla="val 3784"/>
            </a:avLst>
          </a:prstGeom>
          <a:solidFill>
            <a:srgbClr val="F0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675888"/>
            <a:ext cx="82296" cy="1691640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813048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 · EPISTEMIC GAP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087368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3.3% vs 6.7%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608576"/>
            <a:ext cx="486140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trio และ Biology trio ให้ percentile ใกล้กันมาก — ROAR แยกไม่ออก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3008" y="3675888"/>
            <a:ext cx="5410048" cy="1691640"/>
          </a:xfrm>
          <a:prstGeom prst="roundRect">
            <a:avLst>
              <a:gd name="adj" fmla="val 3784"/>
            </a:avLst>
          </a:prstGeom>
          <a:solidFill>
            <a:srgbClr val="F0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3008" y="3675888"/>
            <a:ext cx="82296" cy="1691640"/>
          </a:xfrm>
          <a:prstGeom prst="rect">
            <a:avLst/>
          </a:prstGeom>
          <a:solidFill>
            <a:srgbClr val="E08A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3048" y="3813048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0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 · STATISTICAL RESOLUTION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53048" y="4087368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553048" y="4608576"/>
            <a:ext cx="486140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draws แค่ 30 ครั้ง/k → ความละเอียด percentile ที่ดีที่สุดคือ 3.3 pct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614416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E8F6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614416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ไม่ใช่ gap: Masking / OOD — เพราะตัดคอลัมน์แล้ว retrain จริงทั้งโมเดล ไม่ใช่แทนค่าด้วย mask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· EXPERIMENT 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เอา ROAR ไปจับ NHANES Clinical (T2DM)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0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NHANES 2013–14 · n = 6,113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clinical features (ตัด HbA1c/glucose)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14.3%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0.416 ± 0.030 (baseline 0.143)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SHAP: Age, Triglycerides,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cholesterol, Systolic BP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33695" cy="4160520"/>
          </a:xfrm>
          <a:prstGeom prst="roundRect">
            <a:avLst>
              <a:gd name="adj" fmla="val 1758"/>
            </a:avLst>
          </a:prstGeom>
          <a:solidFill>
            <a:srgbClr val="0146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103120"/>
            <a:ext cx="4693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สิ่งที่ต่างจาก Exp 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0604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known-artifact ให้เทียบ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944368"/>
            <a:ext cx="46936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ต้องใส่ negative-control feature เองเพื่อทำ epistemic check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65760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risk สูงกว่า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995928"/>
            <a:ext cx="46936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TC/HDL/Cholesterol และ Creatinine/BUN collinear โดยโครงสร้าง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7091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ต่ำที่สุดใน 3 experiment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5047488"/>
            <a:ext cx="46936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ฟีเจอร์ + train เร็ว → ทำ recursive re-ranking ได้ทุก checkpoint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· EXPERIMENT 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เอา ROAR ไปจับ MTBLS1 Urine NMR (T2DM)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samples × 220 NMR variables · 42 subjects · subject-grouped CV · ROC-AUC 0.976 ± 0.022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0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67128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โอกาส: ทำ Contrast ซ้ำได้ตรง ๆ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79192"/>
            <a:ext cx="4861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ถูกระบุเป็น exogenous confounder อยู่แล้ว (เหมือน isopropanol ใน Exp A) — ตัดเทียบกับ BCAA/keto-acid trio ได้ทันที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3008" y="196596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CEE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2167128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ข้อจำกัดใหม่: Diffuse Batch Confound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679192"/>
            <a:ext cx="4861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= ADG19007u, diabetes = ADG10003u ทายจาก batch ได้ 100% — ROAR ตัดทีละฟีเจอร์ ตรวจจับ confound ที่กระจายทั่วทุกฟีเจอร์แบบนี้ไม่ได้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0146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06908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สูงกว่า Exp A ~10 เท่า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(220 vs 21 ฟีเจอร์) → แนะนำจำกัด pool เหลือ 115 identified metabolites ก่อนทำ removal และคง StratifiedGroupKFold ไว้ทุกรอบ retrain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สรุปเปรียบเทียบ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บน Experiment A, B,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356616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ประเด็น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A · Obesity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B · NHANES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C · MTBLS1 NMR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5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/ features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 / 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6,113 / 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 (42 คน) / 220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artifact ให้ทดสอบ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มี (ethanol)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ต่ำ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ต่ำที่สุด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สูงที่สุด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redundancy 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ปานกลาง (r=0.57)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สูง (โครงสร้าง)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สูงที่สุด (multi-peak)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 confound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ไม่มีที่ทราบ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ไม่มีที่ทราบ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มี (batch=label 100%)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0F7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ใช้ซ้ำได้ทั้ง 3 experiment โดยไม่ต้องเปลี่ยน core loop — แต่ต้องปรับ scope, CV scheme และการตีความตามลักษณะข้อมูลของแต่ละชุด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ขั้นตอนถัดไป (NEXT STEPS)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 gap ของ Exp A ก่อน แล้วค่อยขยายไป Exp B/C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920240"/>
          </a:xfrm>
          <a:prstGeom prst="roundRect">
            <a:avLst>
              <a:gd name="adj" fmla="val 3810"/>
            </a:avLst>
          </a:prstGeom>
          <a:solidFill>
            <a:srgbClr val="F0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2996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ทำได้เลย (cost ต่ำ)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104543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A: เพิ่ม recursive re-ranking ทุก checkpoint + รายงาน proxy correlation คู่กับ ROAR curve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B: ใช้ ROAR loop เดิมได้ตรง ๆ (13 ฟีเจอร์, train เร็ว) พร้อมเพิ่ม negative-control feature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1094415" cy="2331720"/>
          </a:xfrm>
          <a:prstGeom prst="roundRect">
            <a:avLst>
              <a:gd name="adj" fmla="val 3137"/>
            </a:avLst>
          </a:prstGeom>
          <a:solidFill>
            <a:srgbClr val="0146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22452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ต้องวางแผนก่อนขยายไป Exp 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17720"/>
            <a:ext cx="10454335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จำกัด pool เหลือ 115 identified metabolites ก่อน ลด combinatorial cost ของ 220 ฟีเจอร์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คง StratifiedGroupKFold + subject-reconstruction ไว้ทุกรอบ retrain ของ ROAR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 contrast ethanol vs BCAA trio ก่อน — ให้คุณค่าทางวิชาการสูงสุดของการขยายผลนี้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2026-09-20T08:20:42Z</dcterms:created>
  <dcterms:modified xsi:type="dcterms:W3CDTF">2026-09-20T08:20:42Z</dcterms:modified>
</cp:coreProperties>
</file>