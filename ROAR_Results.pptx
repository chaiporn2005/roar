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46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7452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12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ROAR FAITHFULNESS TEST · RESULTS SUMMARY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331720"/>
            <a:ext cx="11094415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ทดสอบความน่าเชื่อถือของ SHAP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ด้วยวิธี Remove-And-Retrain (ROAR)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60520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FEA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Explanation Faithfulness Testing on MTBLS242 Serum NMR Metabolomics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4892040"/>
            <a:ext cx="2103120" cy="0"/>
          </a:xfrm>
          <a:prstGeom prst="line">
            <a:avLst/>
          </a:prstGeom>
          <a:noFill/>
          <a:ln w="31750">
            <a:solidFill>
              <a:srgbClr val="00A89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5120640"/>
            <a:ext cx="1109441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5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จาก “SHAP บอกว่าอะไรสำคัญ”  →  สู่ “พิสูจน์ด้วยการทดลองจริงว่าสำคัญจริง”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30936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MTBLS242 · n=177 (preop=106, 12-month=71) · 21 metabolites · XGBoost + SHAP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แรงจูงใจ (MOTIVATION)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จัดอันดับฟีเจอร์ได้ แต่ไม่ได้พิสูจน์ว่าฟีเจอร์นั้นสำคัญจริง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11094415" cy="1737360"/>
          </a:xfrm>
          <a:prstGeom prst="roundRect">
            <a:avLst>
              <a:gd name="adj" fmla="val 4211"/>
            </a:avLst>
          </a:prstGeom>
          <a:solidFill>
            <a:srgbClr val="F0F7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084832"/>
            <a:ext cx="10454335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ปัญหาของ SHAP เพียงลำพัง
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บอกว่าโมเดล “ใช้” ฟีเจอร์ไหนในการทำนาย แต่ไม่ได้ยืนยันว่าฟีเจอร์นั้นมีผลเชิงสาเหตุจริง หรือเป็นเพียง artifact / ตัวแปรที่บังเอิญสหสัมพันธ์กับผลลัพธ์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3886200"/>
            <a:ext cx="11094415" cy="2148840"/>
          </a:xfrm>
          <a:prstGeom prst="roundRect">
            <a:avLst>
              <a:gd name="adj" fmla="val 3404"/>
            </a:avLst>
          </a:prstGeom>
          <a:solidFill>
            <a:srgbClr val="01465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4096512"/>
            <a:ext cx="10454335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แนวคิดของ ROAR (Remove-And-Retrain)
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F0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ลบฟีเจอร์อันดับต้นตามคะแนน SHAP ออกทีละชุด แล้วเทรนโมเดลใหม่ทั้งหมด — เปรียบเทียบผลกับการลบฟีเจอร์แบบสุ่มจำนวนเท่ากัน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F0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ถ้า SHAP ถูกต้องจริง การลบแบบมีข้อมูล (informed) ต้องทำให้ประสิทธิภาพลดลง “มากกว่า” การลบแบบสุ่มอย่างชัดเจน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 · MTBLS242 SERUM ¹H-NMR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ชุดข้อมูล วิธีการ และผลลัพธ์พื้นฐานของโมเดล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94960" cy="4160520"/>
          </a:xfrm>
          <a:prstGeom prst="roundRect">
            <a:avLst>
              <a:gd name="adj" fmla="val 1758"/>
            </a:avLst>
          </a:prstGeom>
          <a:solidFill>
            <a:srgbClr val="F0F7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ข้อมูลและวิธีการ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606040"/>
            <a:ext cx="4754880" cy="3154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MTBLS242 serum ¹H-NMR · n=177</a:t>
            </a:r>
            <a:endParaRPr lang="en-US" sz="14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preop n=106  vs  12-month n=71</a:t>
            </a:r>
            <a:endParaRPr lang="en-US" sz="14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quantified metabolites</a:t>
            </a:r>
            <a:endParaRPr lang="en-US" sz="1450" dirty="0"/>
          </a:p>
          <a:p>
            <a:pPr indent="0" marL="0">
              <a:lnSpc>
                <a:spcPct val="135000"/>
              </a:lnSpc>
              <a:buNone/>
            </a:pPr>
            <a:endParaRPr lang="en-US" sz="14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Model: XGBoost (max_depth=3)</a:t>
            </a:r>
            <a:endParaRPr lang="en-US" sz="14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Evaluation: Stratified 5-fold CV × 10 repeats</a:t>
            </a:r>
            <a:endParaRPr lang="en-US" sz="14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Removal checkpoints: k = 1, 3, 5, 8, 11</a:t>
            </a:r>
            <a:endParaRPr lang="en-US" sz="14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Random-removal control: 30 draws / k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309360" y="1828800"/>
            <a:ext cx="5333695" cy="4160520"/>
          </a:xfrm>
          <a:prstGeom prst="roundRect">
            <a:avLst>
              <a:gd name="adj" fmla="val 1758"/>
            </a:avLst>
          </a:prstGeom>
          <a:solidFill>
            <a:srgbClr val="01465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29400" y="2103120"/>
            <a:ext cx="46936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ผลลัพธ์พื้นฐาน (Baseline, k=0)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629400" y="2606040"/>
            <a:ext cx="46936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EA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PR-AUC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629400" y="2907792"/>
            <a:ext cx="46936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0.972 ± 0.024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6629400" y="3794760"/>
            <a:ext cx="46936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Top-3 SHAP-ranked metabolites (baseline)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629400" y="4160520"/>
            <a:ext cx="469361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Dimethyl sulfone</a:t>
            </a:r>
            <a:endParaRPr lang="en-US" sz="14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isopropanol</a:t>
            </a:r>
            <a:endParaRPr lang="en-US" sz="14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methanol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6629400" y="5166360"/>
            <a:ext cx="4693615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i="1" dirty="0">
                <a:solidFill>
                  <a:srgbClr val="FD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ทั้ง 3 ตัวคือ known laboratory / exogenous artifacts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1 · BASELINE EXPLANATION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94415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อันดับความสำคัญจาก SHAP: 3 อันดับแรกคือสารปนเปื้อนที่รู้จัก ไม่ใช่ชีววิทยา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|SHAP value| ของเมตาโบไลต์ทั้ง 21 ตัวจากโมเดล baseline (ใช้ฟีเจอร์ครบทั้ง 21 ตัว)</a:t>
            </a:r>
            <a:endParaRPr lang="en-US" sz="1300" dirty="0"/>
          </a:p>
        </p:txBody>
      </p:sp>
      <p:pic>
        <p:nvPicPr>
          <p:cNvPr id="5" name="Image 0" descr="/tmp/claude-0/-home-claude/3d1ec2dd-28e7-5357-a4c6-0c727a0e5994/scratchpad/work/charts/A_shap_rank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74848" y="1783080"/>
            <a:ext cx="5842000" cy="36576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559552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Dimethyl sulfone, isopropanol และ methanol คือ 3 อันดับแรกที่ SHAP ให้ความสำคัญสูงสุด — ทั้งสามตัวเป็น known laboratory/exogenous artifacts ไม่ใช่สารชีวภาพที่เกี่ยวกับโรคอ้วน</a:t>
            </a:r>
            <a:endParaRPr lang="en-US" sz="1300" dirty="0"/>
          </a:p>
          <a:p>
            <a:pPr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นี่คือเหตุผลที่ต้องทดสอบต่อด้วย ROAR แทนที่จะเชื่อคะแนน SHAP ตรง ๆ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2 · ROAR CURVE (ผลลัพธ์หลัก)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94415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ลบฟีเจอร์ตาม SHAP → ประสิทธิภาพร่วงเร็วกว่าและต่ำกว่าการลบแบบสุ่มเสมอ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PR-AUC เปรียบเทียบระหว่างการลบแบบ informed (ตาม SHAP) และการลบแบบสุ่ม 30 ครั้ง ที่ k = 1, 3, 5, 8, 11</a:t>
            </a:r>
            <a:endParaRPr lang="en-US" sz="1300" dirty="0"/>
          </a:p>
        </p:txBody>
      </p:sp>
      <p:pic>
        <p:nvPicPr>
          <p:cNvPr id="5" name="Image 0" descr="/tmp/claude-0/-home-claude/3d1ec2dd-28e7-5357-a4c6-0c727a0e5994/scratchpad/work/charts/B_roar_cur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09302" y="1783080"/>
            <a:ext cx="6373091" cy="36576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559552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ที่ทุกค่า k การลบแบบ informed แย่กว่าเกือบทุกครั้งของการลบแบบสุ่ม (percentile ≤ 3.3% แทบทุกจุด) — เป็นหลักฐานว่า SHAP ranking สะท้อนฟีเจอร์ที่โมเดล “พึ่งพา” จริง ไม่ใช่บังเอิญ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3 · PROXY DETECTION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94415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เมื่อฟีเจอร์อันดับต้นถูกลบ โมเดลหาตัวแทนที่สหสัมพันธ์กันมาใช้แทนทันที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ที่แต่ละ k, feature ที่กลายเป็นอันดับ 1 ใหม่หลัง retrain และค่าสหสัมพันธ์ (Pearson r) กับฟีเจอร์ที่ถูกลบ</a:t>
            </a:r>
            <a:endParaRPr lang="en-US" sz="1300" dirty="0"/>
          </a:p>
        </p:txBody>
      </p:sp>
      <p:pic>
        <p:nvPicPr>
          <p:cNvPr id="5" name="Image 0" descr="/tmp/claude-0/-home-claude/3d1ec2dd-28e7-5357-a4c6-0c727a0e5994/scratchpad/work/charts/C_proxy_dete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09723" y="1783080"/>
            <a:ext cx="6572250" cy="36576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559552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หลัง retrain โมเดลมักหยิบฟีเจอร์ที่สหสัมพันธ์สูงกับตัวที่ถูกลบมาทดแทน (|r| สูงสุด 0.57) — สัญญาณของการรั่วไหลของข้อมูล (leakage) ผ่านความสัมพันธ์ระหว่างเมตาโบไลต์ ไม่ใช่ฟีเจอร์ที่อิสระต่อกันจริง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4 · ARTIFACT VS. BIOLOGY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94415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เปรียบเทียบ: ลบสารปนเปื้อน vs. ลบเมตาโบไลต์ที่มีหลักฐานทางชีวภาพ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เปรียบเทียบ PR-AUC เมื่อลบ known-artifact trio กับ top-literature-biology trio (k=3 ทั้งคู่) เทียบกับการลบแบบสุ่ม 3 ฟีเจอร์</a:t>
            </a:r>
            <a:endParaRPr lang="en-US" sz="1300" dirty="0"/>
          </a:p>
        </p:txBody>
      </p:sp>
      <p:pic>
        <p:nvPicPr>
          <p:cNvPr id="5" name="Image 0" descr="/tmp/claude-0/-home-claude/3d1ec2dd-28e7-5357-a4c6-0c727a0e5994/scratchpad/work/charts/D_contra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26018" y="1783080"/>
            <a:ext cx="6139660" cy="36576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559552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ทั้งสองกลุ่มทำให้ประสิทธิภาพลดลงต่ำกว่าค่ากลางของการลบแบบสุ่มพอ ๆ กัน — บ่งชี้ว่าโมเดลพึ่งพา “artifact” มากพอ ๆ กับสารชีวภาพที่มีหลักฐานทางวรรณกรรม</a:t>
            </a:r>
            <a:endParaRPr lang="en-US" sz="1300" dirty="0"/>
          </a:p>
          <a:p>
            <a:pPr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ความเสี่ยงต่อการตีความผลในทางคลินิก หากไม่คัดกรอง exogenous artifacts ออกก่อน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5 · RANDOM-DRAW DISTRIBUTIONS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94415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ตำแหน่งของการลบแบบ informed เทียบกับการกระจายของการลบแบบสุ่มทั้ง 30 ครั้ง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Boxplot ของ PR-AUC จากการลบแบบสุ่ม 30 ครั้งต่อ k พร้อมจุดค่าจริงของการลบแบบ informed (สีแดง)</a:t>
            </a:r>
            <a:endParaRPr lang="en-US" sz="1300" dirty="0"/>
          </a:p>
        </p:txBody>
      </p:sp>
      <p:pic>
        <p:nvPicPr>
          <p:cNvPr id="5" name="Image 0" descr="/tmp/claude-0/-home-claude/3d1ec2dd-28e7-5357-a4c6-0c727a0e5994/scratchpad/work/charts/E_random_di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09302" y="1783080"/>
            <a:ext cx="6373091" cy="36576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559552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ที่ k=1,3,5,8,11 ค่า informed อยู่ต่ำกว่าทุกกล่อง (นอกเหนือ whisker) เกือบทุกครั้ง — ไม่ใช่แค่ “ต่ำกว่าค่าเฉลี่ย” แต่ต่ำกว่าการกระจายทั้งหมดของการสุ่ม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6 · FOLD-LEVEL VARIANCE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94415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ความแปรปรวนระดับ fold ยืนยันแนวโน้มเดียวกัน แม้มองข้อมูลดิบทั้งหมด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PR-AUC รายfold (n=400 fold-runs) ในทุกเงื่อนไขของ ROAR ตั้งแต่ baseline จนถึง k=11</a:t>
            </a:r>
            <a:endParaRPr lang="en-US" sz="1300" dirty="0"/>
          </a:p>
        </p:txBody>
      </p:sp>
      <p:pic>
        <p:nvPicPr>
          <p:cNvPr id="5" name="Image 0" descr="/tmp/claude-0/-home-claude/3d1ec2dd-28e7-5357-a4c6-0c727a0e5994/scratchpad/work/charts/F_raw_fold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15339" y="1783080"/>
            <a:ext cx="6761018" cy="36576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559552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ของกลุ่ม informed ลดลงต่อเนื่องตาม k ในขณะที่กลุ่ม baseline/biology trio ยังคงอยู่ในระดับสูง — รูปแบบเดียวกับที่เห็นในค่าเฉลี่ยของ ROAR curve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สรุปเปรียบเทียบ (COMPARISON) · RESULT 7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94415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รวมทุกเงื่อนไขของ ROAR ไว้ในกราฟเดียว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PR-AUC ของทุกเงื่อนไข: baseline, informed removal (k=1–11), random removal เฉลี่ย (k=1–11), และ artifact/biology trio</a:t>
            </a:r>
            <a:endParaRPr lang="en-US" sz="1300" dirty="0"/>
          </a:p>
        </p:txBody>
      </p:sp>
      <p:pic>
        <p:nvPicPr>
          <p:cNvPr id="5" name="Image 0" descr="/tmp/claude-0/-home-claude/3d1ec2dd-28e7-5357-a4c6-0c727a0e5994/scratchpad/work/charts/G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42127" y="1783080"/>
            <a:ext cx="6307442" cy="36576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559552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กลุ่ม informed removal (แดง) อยู่ต่ำกว่ากลุ่ม random removal (เขียวอมฟ้า) ที่ k เดียวกันเสมอ และยิ่งลบมาก (k สูง) ช่องว่างยิ่งถ่างออก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ผลสรุปเชิงตัวเลข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ผ่านการทดสอบ ROAR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94415" cy="0"/>
          </a:xfrm>
          <a:prstGeom prst="line">
            <a:avLst/>
          </a:prstGeom>
          <a:noFill/>
          <a:ln w="12700">
            <a:solidFill>
              <a:srgbClr val="DDDDD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3423818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0.972</a:t>
            </a:r>
            <a:endParaRPr lang="en-US" sz="5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88920"/>
            <a:ext cx="3423818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PR-AUC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(k=0, ฟีเจอร์ครบ 21 ตัว)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246778" y="1828800"/>
            <a:ext cx="3423818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0.876</a:t>
            </a:r>
            <a:endParaRPr lang="en-US" sz="5200" dirty="0"/>
          </a:p>
        </p:txBody>
      </p:sp>
      <p:sp>
        <p:nvSpPr>
          <p:cNvPr id="8" name="Text 6"/>
          <p:cNvSpPr txBox="1"/>
          <p:nvPr/>
        </p:nvSpPr>
        <p:spPr>
          <a:xfrm>
            <a:off x="4246778" y="2788920"/>
            <a:ext cx="3423818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Informed-removal PR-AUC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ที่ k=11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944917" y="1828800"/>
            <a:ext cx="3423818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5</a:t>
            </a:r>
            <a:endParaRPr lang="en-US" sz="5200" dirty="0"/>
          </a:p>
        </p:txBody>
      </p:sp>
      <p:sp>
        <p:nvSpPr>
          <p:cNvPr id="10" name="Text 8"/>
          <p:cNvSpPr txBox="1"/>
          <p:nvPr/>
        </p:nvSpPr>
        <p:spPr>
          <a:xfrm>
            <a:off x="7944917" y="2788920"/>
            <a:ext cx="3423818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จุด k ที่ informed removal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แย่กว่าการสุ่มทั้ง 30 ครั้ง (0th pctile)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94760"/>
          <a:ext cx="11094415" cy="1828800"/>
        </p:xfrm>
        <a:graphic>
          <a:graphicData uri="http://schemas.openxmlformats.org/drawingml/2006/table">
            <a:tbl>
              <a:tblPr/>
              <a:tblGrid>
                <a:gridCol w="2773604"/>
                <a:gridCol w="2773604"/>
                <a:gridCol w="2773604"/>
                <a:gridCol w="2773604"/>
              </a:tblGrid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46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Informed PR-AUC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46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mean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46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Percentile vs. random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4650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worse than ALL 30 draws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9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worse than 96.7% of draws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9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worse than ALL 30 draws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9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worse than ALL 30 draws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9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worse than ALL 30 draws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9"/>
                    </a:solidFill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548640" y="5806440"/>
            <a:ext cx="11094415" cy="685800"/>
          </a:xfrm>
          <a:prstGeom prst="roundRect">
            <a:avLst>
              <a:gd name="adj" fmla="val 8000"/>
            </a:avLst>
          </a:prstGeom>
          <a:solidFill>
            <a:srgbClr val="FCEEE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7240" y="5806440"/>
            <a:ext cx="1063721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หลักฐานจาก 6 การทดลองยืนยันตรงกัน: SHAP สะท้อนฟีเจอร์ที่โมเดลพึ่งพาจริง — แต่ 3 อันดับแรกคือสารปนเปื้อน ไม่ใช่ชีววิทยาของโรคอ้วน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สรุปและข้อคิด (TAKEAWAYS)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น่าเชื่อถือในเชิง faithfulness — แต่สิ่งที่มันชี้กลับเป็นปัญหาข้อมูล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1965960"/>
          </a:xfrm>
          <a:prstGeom prst="roundRect">
            <a:avLst>
              <a:gd name="adj" fmla="val 3721"/>
            </a:avLst>
          </a:prstGeom>
          <a:solidFill>
            <a:srgbClr val="F0F7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029968"/>
            <a:ext cx="104543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ROAR ยืนยัน Faithfulness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23160"/>
            <a:ext cx="10454335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การลบฟีเจอร์ตาม SHAP ทำให้ PR-AUC ลดลงมากกว่าการลบแบบสุ่มในทุกค่า k (percentile 0–3.3%)</a:t>
            </a:r>
            <a:endParaRPr lang="en-US" sz="140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รูปแบบเดียวกันนี้เห็นทั้งในค่าเฉลี่ย (ROAR curve) และข้อมูลดิบระดับ fold (raw fold scores, n=400)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4069080"/>
            <a:ext cx="11094415" cy="2423160"/>
          </a:xfrm>
          <a:prstGeom prst="roundRect">
            <a:avLst>
              <a:gd name="adj" fmla="val 3019"/>
            </a:avLst>
          </a:prstGeom>
          <a:solidFill>
            <a:srgbClr val="01465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4270248"/>
            <a:ext cx="104543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8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แต่พบความเสี่ยงเชิงข้อมูล (ไม่ใช่ปัญหาของ SHAP)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4663440"/>
            <a:ext cx="10454335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0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อันดับแรกที่โมเดลพึ่งพาที่สุดคือสารปนเปื้อนที่รู้จัก (isopropanol, methanol, Dimethyl sulfone) ไม่ใช่สารชีวภาพ</a:t>
            </a:r>
            <a:endParaRPr lang="en-US" sz="140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0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เมื่อลบสารเหล่านี้ โมเดลหาตัวแทนที่สหสัมพันธ์สูงมาใช้แทนได้ทันที (|r| สูงสุด 0.57) — ความเสี่ยงต่อ data leakage</a:t>
            </a:r>
            <a:endParaRPr lang="en-US" sz="140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0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ก่อนใช้งานจริงทางคลินิก ต้องกำจัด/ควบคุม exogenous artifacts เหล่านี้ออกจาก pipeline ก่อน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2026-09-20T07:10:22Z</dcterms:created>
  <dcterms:modified xsi:type="dcterms:W3CDTF">2026-09-20T07:10:22Z</dcterms:modified>
</cp:coreProperties>
</file>